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F4536-34ED-1320-A8F4-BD7770B52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A3E4D-2AC2-DE20-1213-C3F77E01D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DF5FC-9EFC-36DA-4DB7-50995F839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4E48B-469B-73F0-A776-B3B78C94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B4E8A-4FB7-4D48-B25D-DC791DDD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22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02F0-553A-9CC1-EC13-1421F0FD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76FD-365C-300F-154D-B8AF73E67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87CA3-BF57-FBB5-4446-EC784EA0B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30012-8985-42BE-79F0-F9272DDB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E2F05-9D97-6C92-970F-DDFF166A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7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C08D-ED4D-C4D9-2274-03BA5C05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A3554-6EE3-0395-6A7B-ACCC4266F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C0224-33B4-25C8-3CCF-504CA323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957BE-03B8-FE8A-78A3-BB57453A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409E5-98E5-7274-175C-E930C584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5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34DA-8729-ED69-AABA-74516D4B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4728-74EA-37C7-3A57-B145ECAE5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F7839-23EA-9335-E96D-427F52E4D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BC2B7-3C47-109E-BC26-9DE5924B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BDE59-902F-AD25-7B79-F190FA1F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F3F2A-5271-8A96-C3B1-4DF71CEB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8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832D-C399-2E7B-90F2-13C0A6C3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71B43-3983-86B2-48C0-B68BFDC4D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5504D-4608-BC4D-1F02-26626A15E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E9292-FE90-DABC-CE07-29591118F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756EB-81AE-8E61-D739-99BD5F0E9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0CF4B-86EE-708C-ECAE-10B1AA28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5A8C7-DC98-5B5A-A54F-3FE61E08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B0B5E-A957-1068-C396-BF875FA2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6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511A-B0A8-9012-A630-4371FBD2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A8561-E505-8214-E174-5B42AE96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54DA6-2C4A-D888-3AD8-B1B842E4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86941-AD43-4235-4DDA-9E5CAF23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3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C5E45-39D5-011B-DA92-C588EDD1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02B88-9D7C-F09A-FEA0-22A34C7B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1E686-47A1-EE2F-7096-8B4F238F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CEFB-328C-10F7-20C4-E4662139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A9B55-015B-BAA9-97BF-44F816F80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29562-77A3-4DA7-8C8F-667AC5EE8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45E62-0A49-BDB6-A9DC-50FF27DE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4C467-6966-4AB7-162C-9DC30550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8D411-788C-8CC1-A942-081D7CF6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2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6841-1D0B-320D-71F6-3465A41F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26AE6B-E655-B1AE-1B08-E0740724C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BB341-6B88-1155-6355-C57C03450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9A113-268F-5C81-8910-E396D888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2FF8A-714B-D42D-4230-8105ECF6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00DD-6656-2346-9240-91210610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7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1882-B97A-C7F0-C1A8-47FC23CB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BA9BC-A459-DEC8-ECCB-87A9DA544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CB3B7-8094-3684-FC2C-1FDC77DD3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CB8D2-295F-D66C-8A3C-18CAD7C1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73BCB-22F6-9835-760B-26F5E357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AF8E20-CC98-25ED-BB91-9E95A555B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0689C-53C1-846B-E039-B502DF00A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DC4B-3CF1-42F2-4966-29B47A113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5E17-3B3F-16F5-6B95-043BB3C6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564B-29BC-A444-608E-191FB1D0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1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38F0-9BB2-3E8C-0560-029C4AC1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CD347-1EDA-B74D-0DC1-90684AE7E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EA7A-B1B0-0EE0-7B17-9AD2B27EC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5BC16-0ED5-42F4-886A-9E1FB842D50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06ABF-4FB5-E568-C5A2-9F2DE86F8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C706F-6C57-6731-5862-F4C8369E0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0F918-E52F-45FF-A603-CF64809D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5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9/10/exploring-the-current-need-for-healthcare-mobile-application-development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6/08/top-5-deadliest-ransomware-everything-you-need-to-know-about-i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17994717@N06/40631791164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server" TargetMode="External"/><Relationship Id="rId2" Type="http://schemas.openxmlformats.org/officeDocument/2006/relationships/image" Target="../media/image4.1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internet" TargetMode="External"/><Relationship Id="rId2" Type="http://schemas.openxmlformats.org/officeDocument/2006/relationships/image" Target="../media/image5.1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oto.wuestenigel.com/backup-red-text-between-blue-binary-data-on-screen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opengridscheduler/18060302048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cybernovasecure.co.za/" TargetMode="External"/><Relationship Id="rId4" Type="http://schemas.openxmlformats.org/officeDocument/2006/relationships/hyperlink" Target="mailto:info@cybernova.co.z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r/reference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7" descr="A cellphone with a heart icon&#10;&#10;AI-generated content may be incorrect.">
            <a:extLst>
              <a:ext uri="{FF2B5EF4-FFF2-40B4-BE49-F238E27FC236}">
                <a16:creationId xmlns:a16="http://schemas.microsoft.com/office/drawing/2014/main" id="{E08E73F3-CEB0-74EB-1E4C-49CD5483EF6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540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676DF6-056C-59D2-A1DF-9C3A43B4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CyberNova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487375-2A1D-92C6-4431-CCB78D527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Summary proposal on how to resolve the hospital Ransomware attack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b="1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2000"/>
              <a:t>Presented to the board of directors.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2000"/>
              <a:t>Date: 21 October 2025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2000"/>
              <a:t>Prepared by:</a:t>
            </a:r>
          </a:p>
          <a:p>
            <a:pPr lvl="2" indent="-228600">
              <a:buFont typeface="Arial" panose="020B0604020202020204" pitchFamily="34" charset="0"/>
              <a:buChar char="•"/>
            </a:pPr>
            <a:r>
              <a:rPr lang="en-US" sz="2000"/>
              <a:t>CyberNova Company.</a:t>
            </a:r>
          </a:p>
          <a:p>
            <a:pPr lvl="1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742950" lvl="1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lvl="1"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47B0A-8DA8-FDB2-8306-095E7D526DE5}"/>
              </a:ext>
            </a:extLst>
          </p:cNvPr>
          <p:cNvSpPr txBox="1"/>
          <p:nvPr/>
        </p:nvSpPr>
        <p:spPr>
          <a:xfrm>
            <a:off x="9602828" y="6657945"/>
            <a:ext cx="258917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technofaq.org/posts/2019/10/exploring-the-current-need-for-healthcare-mobile-application-developmen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99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1E5DD0C-F112-5BD3-7576-41B03F83DA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063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AAD7F-6B64-6A8D-6820-79A86030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Understanding Cybercrime in Hospital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ED925-284E-8D98-CACD-DF6D06538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Cybercrime has grown rapidly in the 21</a:t>
            </a:r>
            <a:r>
              <a:rPr lang="en-US" sz="1900" baseline="30000"/>
              <a:t>st</a:t>
            </a:r>
            <a:r>
              <a:rPr lang="en-US" sz="1900"/>
              <a:t> century especially Ransomware.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Hospitals are key targets because they heavily rely on digital system for patient care.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Such attacks threaten data privacy, patient safety and service delivery.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Compliance with privacy laws like POPIA(2021) and GDPR is essential.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00114-C2E4-82D1-7836-B139C23DC8E7}"/>
              </a:ext>
            </a:extLst>
          </p:cNvPr>
          <p:cNvSpPr txBox="1"/>
          <p:nvPr/>
        </p:nvSpPr>
        <p:spPr>
          <a:xfrm>
            <a:off x="9602828" y="6657945"/>
            <a:ext cx="258917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technofaq.org/posts/2016/08/top-5-deadliest-ransomware-everything-you-need-to-know-about-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96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People walking through a glass door&#10;&#10;AI-generated content may be incorrect.">
            <a:extLst>
              <a:ext uri="{FF2B5EF4-FFF2-40B4-BE49-F238E27FC236}">
                <a16:creationId xmlns:a16="http://schemas.microsoft.com/office/drawing/2014/main" id="{ABBFC42F-F54C-DD47-1F64-30947B48D5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942" r="294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7CC79-3B8D-126E-06E7-5097CA25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CyberNova Role and Responsibilities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B7690-4ED5-58B6-7DF0-857AAA1E5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Contact forensic analysis to trace and isolate the ransomware.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Restore system and data using verified offline backups.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Strengthen network defenses and system monitoring.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Train staff on phishing prevention and safe digital practice.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/>
              <a:t>Ensure all actions meet ethical and legal standards.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58D40-FBA5-5836-E194-563D1B17431A}"/>
              </a:ext>
            </a:extLst>
          </p:cNvPr>
          <p:cNvSpPr txBox="1"/>
          <p:nvPr/>
        </p:nvSpPr>
        <p:spPr>
          <a:xfrm>
            <a:off x="7237567" y="665794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flickr.com/photos/117994717@N06/40631791164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60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person working on a computer&#10;&#10;AI-generated content may be incorrect.">
            <a:extLst>
              <a:ext uri="{FF2B5EF4-FFF2-40B4-BE49-F238E27FC236}">
                <a16:creationId xmlns:a16="http://schemas.microsoft.com/office/drawing/2014/main" id="{7E379965-C193-865D-DA03-FD720D6A2C5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8979" b="909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2C959-2D04-9DA7-1DB4-764D66276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How the attack occurred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7E122-D360-4B29-104E-79C1101B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Likely entry points: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Phishing emails with malicious links.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Outdated or unpatched software.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Weak or shared password.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Insecure IoT medical devices .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Poor network segmentation.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Highlights the need for human awareness and stronger system policies. 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21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6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F1166FD7-7C37-C9C4-322D-0E8DABEB2F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091" r="16107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7CC38-334A-827E-CFF5-E1FB574F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Immediate Response 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0DDB3-30FE-C903-38F5-34B8D4254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Disconnect infected systems from the network 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Activate incident response plan and alert stakeholders.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Recover essential services from clean backups.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Deploy endpoint protection tools to isolate threats.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Maintain hospital operations using manual processes temporarily.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93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computer screen with binary code and red text&#10;&#10;AI-generated content may be incorrect.">
            <a:extLst>
              <a:ext uri="{FF2B5EF4-FFF2-40B4-BE49-F238E27FC236}">
                <a16:creationId xmlns:a16="http://schemas.microsoft.com/office/drawing/2014/main" id="{55242610-B154-822A-192F-C674EF40AA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18" b="271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6B23A-E567-BBD4-A21D-D8C3C81A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Long-term Prevention and Ethical Practices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16B71-B6F4-4084-CA4C-261DDF9EB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Five-tier Cyber Defense Framework: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/>
              <a:t>Data Protection and encryption.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/>
              <a:t>Network and endpoint security.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/>
              <a:t>Continuous staff cybersecurity training.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/>
              <a:t>Regular audits and penetration testing.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/>
              <a:t>Legal compliance with ISO/IEC 27001 and POPIA.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Ethical stance: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/>
              <a:t>Never pay ransom; it funds criminal activities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/>
              <a:t>Maintain transparency and accountability.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FA760-93B9-C320-0692-4DCAACEFBED5}"/>
              </a:ext>
            </a:extLst>
          </p:cNvPr>
          <p:cNvSpPr txBox="1"/>
          <p:nvPr/>
        </p:nvSpPr>
        <p:spPr>
          <a:xfrm>
            <a:off x="9894574" y="6657945"/>
            <a:ext cx="229742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foto.wuestenigel.com/backup-red-text-between-blue-binary-data-on-scree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66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group of people walking on a street&#10;&#10;AI-generated content may be incorrect.">
            <a:extLst>
              <a:ext uri="{FF2B5EF4-FFF2-40B4-BE49-F238E27FC236}">
                <a16:creationId xmlns:a16="http://schemas.microsoft.com/office/drawing/2014/main" id="{AA286E99-CE8A-1ED2-02C2-1D76DFE6C7B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254" r="22965" b="763"/>
          <a:stretch>
            <a:fillRect/>
          </a:stretch>
        </p:blipFill>
        <p:spPr>
          <a:xfrm>
            <a:off x="3036040" y="-400584"/>
            <a:ext cx="11112137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7FCDA0-D51F-3211-69F0-65A50790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7602474" cy="11247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>
                <a:solidFill>
                  <a:schemeClr val="bg1"/>
                </a:solidFill>
              </a:rPr>
              <a:t> </a:t>
            </a:r>
            <a:r>
              <a:rPr lang="en-US" sz="2800" b="1">
                <a:solidFill>
                  <a:schemeClr val="bg1"/>
                </a:solidFill>
              </a:rPr>
              <a:t>CyberNova Security </a:t>
            </a: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Contact Us Restoring trust, one secure system at a time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8D232-F1D1-3362-F7E5-1D7BD88D4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6514338" cy="37393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"/>
            <a:r>
              <a:rPr lang="en-US" sz="1700">
                <a:solidFill>
                  <a:schemeClr val="bg1"/>
                </a:solidFill>
              </a:rPr>
              <a:t>Email: </a:t>
            </a:r>
            <a:r>
              <a:rPr lang="en-US" sz="1700">
                <a:solidFill>
                  <a:schemeClr val="bg1"/>
                </a:solidFill>
                <a:hlinkClick r:id="rId4"/>
              </a:rPr>
              <a:t>info@cybernova.co.za</a:t>
            </a:r>
            <a:endParaRPr lang="en-US" sz="1700">
              <a:solidFill>
                <a:schemeClr val="bg1"/>
              </a:solidFill>
            </a:endParaRPr>
          </a:p>
          <a:p>
            <a:pPr marL="57150"/>
            <a:r>
              <a:rPr lang="en-US" sz="1700">
                <a:solidFill>
                  <a:schemeClr val="bg1"/>
                </a:solidFill>
              </a:rPr>
              <a:t> Phone: +27 87 123 4567</a:t>
            </a:r>
          </a:p>
          <a:p>
            <a:pPr marL="57150"/>
            <a:r>
              <a:rPr lang="en-US" sz="1700">
                <a:solidFill>
                  <a:schemeClr val="bg1"/>
                </a:solidFill>
              </a:rPr>
              <a:t>Website: </a:t>
            </a:r>
            <a:r>
              <a:rPr lang="en-US" sz="1700">
                <a:solidFill>
                  <a:schemeClr val="bg1"/>
                </a:solidFill>
                <a:hlinkClick r:id="rId5"/>
              </a:rPr>
              <a:t>www.cybernovasecure.co.za</a:t>
            </a:r>
            <a:endParaRPr lang="en-US" sz="1700">
              <a:solidFill>
                <a:schemeClr val="bg1"/>
              </a:solidFill>
            </a:endParaRPr>
          </a:p>
          <a:p>
            <a:pPr marL="57150"/>
            <a:r>
              <a:rPr lang="en-US" sz="1700">
                <a:solidFill>
                  <a:schemeClr val="bg1"/>
                </a:solidFill>
              </a:rPr>
              <a:t> Location: Cape Town, South Africa </a:t>
            </a:r>
          </a:p>
          <a:p>
            <a:pPr marL="57150"/>
            <a:r>
              <a:rPr lang="en-US" sz="1700" b="1">
                <a:solidFill>
                  <a:schemeClr val="bg1"/>
                </a:solidFill>
              </a:rPr>
              <a:t>Presented by the CyberNova Team</a:t>
            </a:r>
            <a:r>
              <a:rPr lang="en-US" sz="1700">
                <a:solidFill>
                  <a:schemeClr val="bg1"/>
                </a:solidFill>
              </a:rPr>
              <a:t>:-</a:t>
            </a:r>
          </a:p>
          <a:p>
            <a:pPr marL="57150"/>
            <a:r>
              <a:rPr lang="en-US" sz="1700">
                <a:solidFill>
                  <a:schemeClr val="bg1"/>
                </a:solidFill>
              </a:rPr>
              <a:t> Mudiwa — Cybersecurity Analyst</a:t>
            </a:r>
          </a:p>
          <a:p>
            <a:pPr marL="57150"/>
            <a:r>
              <a:rPr lang="en-US" sz="1700">
                <a:solidFill>
                  <a:schemeClr val="bg1"/>
                </a:solidFill>
              </a:rPr>
              <a:t> Tavonga Kufa — Network Security Specialist-</a:t>
            </a:r>
          </a:p>
          <a:p>
            <a:pPr marL="57150"/>
            <a:r>
              <a:rPr lang="en-US" sz="1700">
                <a:solidFill>
                  <a:schemeClr val="bg1"/>
                </a:solidFill>
              </a:rPr>
              <a:t>Junior L. Malunzaisa — Systems Engineer</a:t>
            </a:r>
          </a:p>
          <a:p>
            <a:pPr marL="57150"/>
            <a:r>
              <a:rPr lang="en-US" sz="1700">
                <a:solidFill>
                  <a:schemeClr val="bg1"/>
                </a:solidFill>
              </a:rPr>
              <a:t> Jeremiah T. Kamuzatu — Incident Response Lead</a:t>
            </a:r>
          </a:p>
          <a:p>
            <a:pPr marL="57150"/>
            <a:r>
              <a:rPr lang="en-US" sz="1700">
                <a:solidFill>
                  <a:schemeClr val="bg1"/>
                </a:solidFill>
              </a:rPr>
              <a:t> Unaraine Phungo — Project Manager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41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chalkboard with a word on it next to a pair of books&#10;&#10;AI-generated content may be incorrect.">
            <a:extLst>
              <a:ext uri="{FF2B5EF4-FFF2-40B4-BE49-F238E27FC236}">
                <a16:creationId xmlns:a16="http://schemas.microsoft.com/office/drawing/2014/main" id="{D2195BB2-2154-609E-05D1-6C7D6672DD8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4439" b="9092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00F98-516B-B119-406C-034C1CE3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Reference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C1DEF-F710-8D5F-480A-9D75FD7E5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Association for Computing Machinery (ACM) (2022) ACM code of ethics and professional conduct. New York: ACM.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Europol (2023) No more ransom project. Available at: https://www.nomoreransom.org (Accessed: 22 October 2025)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International Organization for Standardization (ISO) (2022) ISO/IEC 27001:2022 – Information security management systems – Requirements. Geneva: ISO.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Interpol (2022) Ransomware and cybercrime trends in Africa. Lyon: Interpol.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Republic of South Africa (2021) Protection of Personal Information Act (POPIA), Act No. 4 of 2013. Pretoria: Government Printer.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F2EEC-A6B8-E4D1-D1ED-1BCDAE38BA59}"/>
              </a:ext>
            </a:extLst>
          </p:cNvPr>
          <p:cNvSpPr txBox="1"/>
          <p:nvPr/>
        </p:nvSpPr>
        <p:spPr>
          <a:xfrm>
            <a:off x="9759924" y="665794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picpedia.org/chalkboard/r/referen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26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534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CyberNova</vt:lpstr>
      <vt:lpstr>Understanding Cybercrime in Hospital</vt:lpstr>
      <vt:lpstr>CyberNova Role and Responsibilities</vt:lpstr>
      <vt:lpstr>How the attack occurred</vt:lpstr>
      <vt:lpstr>Immediate Response Plan</vt:lpstr>
      <vt:lpstr>Long-term Prevention and Ethical Practices</vt:lpstr>
      <vt:lpstr> CyberNova Security   Contact Us Restoring trust, one secure system at a time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Tanyaradzwa jerry</dc:creator>
  <cp:lastModifiedBy>Mudiwa Mitchel</cp:lastModifiedBy>
  <cp:revision>2</cp:revision>
  <dcterms:created xsi:type="dcterms:W3CDTF">2025-10-23T07:49:09Z</dcterms:created>
  <dcterms:modified xsi:type="dcterms:W3CDTF">2025-10-23T09:38:28Z</dcterms:modified>
</cp:coreProperties>
</file>